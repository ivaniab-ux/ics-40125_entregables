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proyecto: predicción de abandono de clientes para ABC Multistate Bank. Integrantes y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churn crece y golpea doble: ingresos perdidos + costo de captar reemplazo. Detectar a tiempo permite retener. Objetivo: predecir quién y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10.000 clientes, 12 variables, datos limpios. Objetivo = abandono. Solo 20,4% abandona: dataset desbalanceado, la accuracy no basta, usamos ROC-AUC y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Alemania duplica a Francia y España. Inactivos y mujeres abandonan más. A mayor edad, mayor riesgo: promedio 44,8 años en quienes se 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clave: con 2 productos la fidelidad es máxima (7,6%). Con 3 salta a 82,7%, con 4 abandona el 100%. Relación NO lineal: favorece modelos de árbol.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dentro de un pipeline para evitar fuga de datos: codificar categóricas, escalar numéricas, dividir 80/20 estratificado, y tratar el desbalance con pesos de clase + ajuste de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modelos evaluados en el conjunto de prueba con ROC-AUC como métrica de referencia. Gradient Boosting lidera en AUC y precisión.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Gradient Boosting: mejor ROC-AUC (0,873), mejor precisión (0,80, menos falsas alarmas), probabilidades bien calibradas para ajustar el umbral, y supera al baseline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clases desbalanceadas 0,5 rara vez es óptimo. Elegimos el umbral que maximiza F1: 0,23. El Recall sube de 0,49 a 0,74. Priorizamos Recall porque un falso negativo cuesta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explica el abandono: edad 38%, número de productos 28%, actividad 11%. Tres factores concentran cerca del 77% de la importancia.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recomendaciones por factor: segmento senior, sobreventa de productos, reactivar inactivos y mercado alemán.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a 90 días para reducir el abandono 10%: scoring mensual con umbral 0,23, priorizar por riesgo x valor, desplegar con A/B, y monitorear ROI integrando al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modelo con ROC-AUC 0,87, detecta el 74% de las fugas con umbral 0,23, y meta de -10% de abandono. Un modelo accionable integrado al CRM.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0" y="914400"/>
            <a:ext cx="6667500" cy="11834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161" y="4010858"/>
            <a:ext cx="43815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4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DE CLASIFICACIÓN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570798" y="4525208"/>
            <a:ext cx="13146405" cy="1734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63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Predicción de Abandono de Clientes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7007120" y="6507123"/>
            <a:ext cx="42736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A5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Multistate Bank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855494" y="8839200"/>
            <a:ext cx="72347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Nova · Martina Morales · Ivania Becerra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379726" y="9258300"/>
            <a:ext cx="60814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para los Negocios I · Prof. Francisco Alfaro ·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y nuestro objetivo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38250" y="1968222"/>
            <a:ext cx="115766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abordamos como un problema de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binaria supervisada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anticipar, cliente a cliente, quién dejará el banco.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38250" y="4836914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6" name="Text 4"/>
          <p:cNvSpPr/>
          <p:nvPr/>
        </p:nvSpPr>
        <p:spPr>
          <a:xfrm>
            <a:off x="1552575" y="4684514"/>
            <a:ext cx="849905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fuga de clientes (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golpea doble: se van sus ingresos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un reemplazo cuesta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veces más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238250" y="6046589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8" name="Text 6"/>
          <p:cNvSpPr/>
          <p:nvPr/>
        </p:nvSpPr>
        <p:spPr>
          <a:xfrm>
            <a:off x="1552575" y="5894189"/>
            <a:ext cx="849905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la fuga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retener con una acción simple y de bajo costo.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238250" y="7256264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0" name="Text 8"/>
          <p:cNvSpPr/>
          <p:nvPr/>
        </p:nvSpPr>
        <p:spPr>
          <a:xfrm>
            <a:off x="1552575" y="7103864"/>
            <a:ext cx="849905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quién abandonará — y por qué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para actuar antes de que se vaya.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1893391" y="5227439"/>
            <a:ext cx="628650" cy="628650"/>
          </a:xfrm>
          <a:prstGeom prst="ellipse">
            <a:avLst/>
          </a:prstGeom>
          <a:solidFill>
            <a:srgbClr val="CE1126"/>
          </a:solidFill>
          <a:ln/>
        </p:spPr>
      </p:sp>
      <p:sp>
        <p:nvSpPr>
          <p:cNvPr id="12" name="Shape 10"/>
          <p:cNvSpPr/>
          <p:nvPr/>
        </p:nvSpPr>
        <p:spPr>
          <a:xfrm>
            <a:off x="12731591" y="5227439"/>
            <a:ext cx="628650" cy="628650"/>
          </a:xfrm>
          <a:prstGeom prst="ellipse">
            <a:avLst/>
          </a:prstGeom>
          <a:solidFill>
            <a:srgbClr val="E4E7EC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69791" y="5227439"/>
            <a:ext cx="628650" cy="628650"/>
          </a:xfrm>
          <a:prstGeom prst="ellipse">
            <a:avLst/>
          </a:prstGeom>
          <a:solidFill>
            <a:srgbClr val="E4E7E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07991" y="5227439"/>
            <a:ext cx="628650" cy="628650"/>
          </a:xfrm>
          <a:prstGeom prst="ellipse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5246191" y="5227439"/>
            <a:ext cx="628650" cy="628650"/>
          </a:xfrm>
          <a:prstGeom prst="ellipse">
            <a:avLst/>
          </a:prstGeom>
          <a:solidFill>
            <a:srgbClr val="E4E7EC"/>
          </a:solidFill>
          <a:ln/>
        </p:spPr>
      </p:sp>
      <p:sp>
        <p:nvSpPr>
          <p:cNvPr id="16" name="Text 14"/>
          <p:cNvSpPr/>
          <p:nvPr/>
        </p:nvSpPr>
        <p:spPr>
          <a:xfrm>
            <a:off x="11361789" y="6141839"/>
            <a:ext cx="504465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de cada 5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11361789" y="7075289"/>
            <a:ext cx="50446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abandona el banco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10.000 clientes, 12 variables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3309104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3156704"/>
            <a:ext cx="809386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variables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demográficas, financieras y de relación con el banco.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238250" y="4442579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4290179"/>
            <a:ext cx="604080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limpios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sin valores nulos ni duplicados.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238250" y="5133142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9" name="Text 7"/>
          <p:cNvSpPr/>
          <p:nvPr/>
        </p:nvSpPr>
        <p:spPr>
          <a:xfrm>
            <a:off x="1552575" y="4980742"/>
            <a:ext cx="506495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=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(sí / no).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238250" y="5823704"/>
            <a:ext cx="104775" cy="10477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Text 9"/>
          <p:cNvSpPr/>
          <p:nvPr/>
        </p:nvSpPr>
        <p:spPr>
          <a:xfrm>
            <a:off x="1552575" y="5671304"/>
            <a:ext cx="809386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20,4%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 → dataset desbalanceado: la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basta. Evaluamos con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32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44350" y="2818567"/>
            <a:ext cx="3524250" cy="35242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05398" y="4123492"/>
            <a:ext cx="220224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20,4%</a:t>
            </a:r>
            <a:endParaRPr lang="en-US" sz="4950" dirty="0"/>
          </a:p>
        </p:txBody>
      </p:sp>
      <p:sp>
        <p:nvSpPr>
          <p:cNvPr id="14" name="Text 11"/>
          <p:cNvSpPr/>
          <p:nvPr/>
        </p:nvSpPr>
        <p:spPr>
          <a:xfrm>
            <a:off x="13069015" y="4828342"/>
            <a:ext cx="14024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2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1522393" y="6647617"/>
            <a:ext cx="190500" cy="1905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6" name="Text 13"/>
          <p:cNvSpPr/>
          <p:nvPr/>
        </p:nvSpPr>
        <p:spPr>
          <a:xfrm>
            <a:off x="11827193" y="6590467"/>
            <a:ext cx="17633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Retenido 79,6%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3849350" y="6647617"/>
            <a:ext cx="190500" cy="1905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8" name="Text 15"/>
          <p:cNvSpPr/>
          <p:nvPr/>
        </p:nvSpPr>
        <p:spPr>
          <a:xfrm>
            <a:off x="14154150" y="6590467"/>
            <a:ext cx="19099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 20,4%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238250" y="7314367"/>
            <a:ext cx="15811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0" name="Text 17"/>
          <p:cNvSpPr/>
          <p:nvPr/>
        </p:nvSpPr>
        <p:spPr>
          <a:xfrm>
            <a:off x="1238250" y="7607737"/>
            <a:ext cx="54342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38250" y="7950637"/>
            <a:ext cx="739973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98270" y="8043982"/>
            <a:ext cx="496133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2073473" y="7950637"/>
            <a:ext cx="951071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33493" y="8043982"/>
            <a:ext cx="707231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3119795" y="7950637"/>
            <a:ext cx="654248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79815" y="8043982"/>
            <a:ext cx="410408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3869293" y="7950637"/>
            <a:ext cx="1878092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9313" y="8043982"/>
            <a:ext cx="1634252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crédito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238250" y="8484037"/>
            <a:ext cx="1299805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98270" y="8577382"/>
            <a:ext cx="105596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6673811" y="7607737"/>
            <a:ext cx="54344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673811" y="7950637"/>
            <a:ext cx="785455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33831" y="8043982"/>
            <a:ext cx="54161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7554516" y="7950637"/>
            <a:ext cx="1733193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14536" y="8043982"/>
            <a:ext cx="1489353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estimado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9382959" y="7950637"/>
            <a:ext cx="1712714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42979" y="8043982"/>
            <a:ext cx="1468874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productos</a:t>
            </a:r>
            <a:endParaRPr lang="en-US" sz="1650" dirty="0"/>
          </a:p>
        </p:txBody>
      </p:sp>
      <p:sp>
        <p:nvSpPr>
          <p:cNvPr id="38" name="Shape 35"/>
          <p:cNvSpPr/>
          <p:nvPr/>
        </p:nvSpPr>
        <p:spPr>
          <a:xfrm>
            <a:off x="6673811" y="8484037"/>
            <a:ext cx="1809631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33831" y="8577382"/>
            <a:ext cx="1565791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12109490" y="7607737"/>
            <a:ext cx="54342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Y OBJETIVO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2109490" y="7950637"/>
            <a:ext cx="1468993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269510" y="8043982"/>
            <a:ext cx="1225153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activo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3673733" y="7950637"/>
            <a:ext cx="1380292" cy="43815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833753" y="8043982"/>
            <a:ext cx="1136452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cliente</a:t>
            </a:r>
            <a:endParaRPr lang="en-US" sz="1650" dirty="0"/>
          </a:p>
        </p:txBody>
      </p:sp>
      <p:sp>
        <p:nvSpPr>
          <p:cNvPr id="45" name="Shape 42"/>
          <p:cNvSpPr/>
          <p:nvPr/>
        </p:nvSpPr>
        <p:spPr>
          <a:xfrm>
            <a:off x="12109490" y="8484037"/>
            <a:ext cx="2091690" cy="438150"/>
          </a:xfrm>
          <a:prstGeom prst="rect">
            <a:avLst/>
          </a:prstGeom>
          <a:ln w="7620">
            <a:solidFill>
              <a:srgbClr val="002B7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269510" y="8577382"/>
            <a:ext cx="18478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· objetivo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abandona?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38250" y="2831902"/>
            <a:ext cx="9068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abandono por país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12927" y="3696772"/>
            <a:ext cx="126039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32,4%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95400" y="4264462"/>
            <a:ext cx="1619250" cy="33909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Text 5"/>
          <p:cNvSpPr/>
          <p:nvPr/>
        </p:nvSpPr>
        <p:spPr>
          <a:xfrm>
            <a:off x="1579840" y="7826812"/>
            <a:ext cx="112656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Alemania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838575" y="5335071"/>
            <a:ext cx="118098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16,7%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81400" y="5902762"/>
            <a:ext cx="1619250" cy="17526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0" name="Text 8"/>
          <p:cNvSpPr/>
          <p:nvPr/>
        </p:nvSpPr>
        <p:spPr>
          <a:xfrm>
            <a:off x="3998000" y="7826812"/>
            <a:ext cx="8622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10883" y="5392221"/>
            <a:ext cx="120848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16,2%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67400" y="5959912"/>
            <a:ext cx="1619250" cy="169545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279475" y="7826812"/>
            <a:ext cx="8711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339269" y="3974902"/>
            <a:ext cx="9525" cy="302895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56488" y="3974902"/>
            <a:ext cx="67025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56488" y="4279702"/>
            <a:ext cx="67025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Inactivos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26,9%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activos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14,3%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956488" y="4951214"/>
            <a:ext cx="67025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956488" y="5256014"/>
            <a:ext cx="67025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25,1%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hombres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56488" y="5927527"/>
            <a:ext cx="67025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956488" y="6232327"/>
            <a:ext cx="62760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 años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quienes se van: a mayor edad, mayor riesgo.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38250" y="9086850"/>
            <a:ext cx="17392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mayor riesgo: clientes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mayores, inactivos, mujeres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del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alemán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CLAVE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riesgo está en los productos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38250" y="3079552"/>
            <a:ext cx="9014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abandono según número de productos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05188" y="6377107"/>
            <a:ext cx="108525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27,7%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95400" y="6880027"/>
            <a:ext cx="1428750" cy="12096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7" name="Text 5"/>
          <p:cNvSpPr/>
          <p:nvPr/>
        </p:nvSpPr>
        <p:spPr>
          <a:xfrm>
            <a:off x="1450419" y="8242102"/>
            <a:ext cx="1194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34978" y="7253407"/>
            <a:ext cx="90249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7,6%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3333750" y="7756327"/>
            <a:ext cx="1428750" cy="3333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39358" y="8242102"/>
            <a:ext cx="13391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productos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561052" y="3967282"/>
            <a:ext cx="112704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82,7%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372100" y="4470202"/>
            <a:ext cx="1428750" cy="36195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77709" y="8242102"/>
            <a:ext cx="13391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productos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49646" y="3593902"/>
            <a:ext cx="102655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7410450" y="4096822"/>
            <a:ext cx="1428750" cy="39928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6" name="Text 14"/>
          <p:cNvSpPr/>
          <p:nvPr/>
        </p:nvSpPr>
        <p:spPr>
          <a:xfrm>
            <a:off x="7516059" y="8242102"/>
            <a:ext cx="13391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productos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195560" y="4424958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90835" y="4291608"/>
            <a:ext cx="693571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productos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fidelidad máxima: solo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7,6%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fuga.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195560" y="5163145"/>
            <a:ext cx="104775" cy="10477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490835" y="5029795"/>
            <a:ext cx="394373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productos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a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82,7%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195560" y="5901333"/>
            <a:ext cx="104775" cy="10477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0835" y="5767983"/>
            <a:ext cx="469942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productos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abandona el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195560" y="6639520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0835" y="6506170"/>
            <a:ext cx="675568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lineal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argumento a favor de los modelos de árbol.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preparamos los datos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238250" y="1968222"/>
            <a:ext cx="17392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un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fuga de datos.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2540556" y="4816912"/>
            <a:ext cx="960120" cy="960120"/>
          </a:xfrm>
          <a:prstGeom prst="ellipse">
            <a:avLst/>
          </a:prstGeom>
          <a:ln w="22860">
            <a:solidFill>
              <a:srgbClr val="002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25316" y="4839772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2095262" y="5967532"/>
            <a:ext cx="185070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Codificar categóricas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04538" y="6920032"/>
            <a:ext cx="343203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y género a formato numérico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2981" y="5342692"/>
            <a:ext cx="5936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7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6622732" y="4662607"/>
            <a:ext cx="960120" cy="960120"/>
          </a:xfrm>
          <a:prstGeom prst="ellipse">
            <a:avLst/>
          </a:prstGeom>
          <a:ln w="22860">
            <a:solidFill>
              <a:srgbClr val="002B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7492" y="468546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231493" y="5813227"/>
            <a:ext cx="174271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numéricas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63169" y="6765727"/>
            <a:ext cx="327936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escala para todas las variables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85277" y="5342692"/>
            <a:ext cx="5936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7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0705029" y="4816912"/>
            <a:ext cx="960120" cy="960120"/>
          </a:xfrm>
          <a:prstGeom prst="ellipse">
            <a:avLst/>
          </a:prstGeom>
          <a:ln w="22860">
            <a:solidFill>
              <a:srgbClr val="002B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9789" y="4839772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0321648" y="5967532"/>
            <a:ext cx="17268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Dividir train / test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162228" y="6920032"/>
            <a:ext cx="204560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estratificado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67454" y="5342692"/>
            <a:ext cx="5936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7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500" dirty="0"/>
          </a:p>
        </p:txBody>
      </p:sp>
      <p:sp>
        <p:nvSpPr>
          <p:cNvPr id="20" name="Shape 18"/>
          <p:cNvSpPr/>
          <p:nvPr/>
        </p:nvSpPr>
        <p:spPr>
          <a:xfrm>
            <a:off x="14787206" y="4816912"/>
            <a:ext cx="960120" cy="960120"/>
          </a:xfrm>
          <a:prstGeom prst="ellipse">
            <a:avLst/>
          </a:prstGeom>
          <a:ln w="22860">
            <a:solidFill>
              <a:srgbClr val="CE11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771966" y="4839772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4357152" y="5967532"/>
            <a:ext cx="182022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Tratar el desbalance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562964" y="6920032"/>
            <a:ext cx="34087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clase + ajuste de umbral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modelos, una métrica: ROC-AUC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3402925"/>
            <a:ext cx="5977890" cy="1524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953345"/>
            <a:ext cx="562382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216140" y="3402925"/>
            <a:ext cx="2698552" cy="1524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7" name="Text 5"/>
          <p:cNvSpPr/>
          <p:nvPr/>
        </p:nvSpPr>
        <p:spPr>
          <a:xfrm>
            <a:off x="7442362" y="2953345"/>
            <a:ext cx="224610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14691" y="3402925"/>
            <a:ext cx="3011329" cy="1524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9" name="Text 7"/>
          <p:cNvSpPr/>
          <p:nvPr/>
        </p:nvSpPr>
        <p:spPr>
          <a:xfrm>
            <a:off x="10136221" y="2953345"/>
            <a:ext cx="256826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926020" y="3402925"/>
            <a:ext cx="2328267" cy="1524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1" name="Text 9"/>
          <p:cNvSpPr/>
          <p:nvPr/>
        </p:nvSpPr>
        <p:spPr>
          <a:xfrm>
            <a:off x="13154620" y="2953345"/>
            <a:ext cx="187106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5254288" y="3402925"/>
            <a:ext cx="1795463" cy="1524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2888" y="2953345"/>
            <a:ext cx="133826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38250" y="3418165"/>
            <a:ext cx="15811500" cy="971550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8250" y="4382095"/>
            <a:ext cx="597789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6" name="Text 14"/>
          <p:cNvSpPr/>
          <p:nvPr/>
        </p:nvSpPr>
        <p:spPr>
          <a:xfrm>
            <a:off x="1504950" y="3703915"/>
            <a:ext cx="5623827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7216140" y="4382095"/>
            <a:ext cx="2698552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8" name="Text 16"/>
          <p:cNvSpPr/>
          <p:nvPr/>
        </p:nvSpPr>
        <p:spPr>
          <a:xfrm>
            <a:off x="7442362" y="3703915"/>
            <a:ext cx="2246108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0,873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914691" y="4382095"/>
            <a:ext cx="3011329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136221" y="3703915"/>
            <a:ext cx="2568269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2926020" y="4382095"/>
            <a:ext cx="2328267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2" name="Text 20"/>
          <p:cNvSpPr/>
          <p:nvPr/>
        </p:nvSpPr>
        <p:spPr>
          <a:xfrm>
            <a:off x="13154620" y="3703915"/>
            <a:ext cx="1871067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0,49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254288" y="4382095"/>
            <a:ext cx="1795463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4" name="Text 22"/>
          <p:cNvSpPr/>
          <p:nvPr/>
        </p:nvSpPr>
        <p:spPr>
          <a:xfrm>
            <a:off x="15482888" y="3703915"/>
            <a:ext cx="1338263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0,61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238250" y="5258395"/>
            <a:ext cx="597789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6" name="Text 24"/>
          <p:cNvSpPr/>
          <p:nvPr/>
        </p:nvSpPr>
        <p:spPr>
          <a:xfrm>
            <a:off x="1504950" y="4637365"/>
            <a:ext cx="562382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216140" y="5258395"/>
            <a:ext cx="2698552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8" name="Text 26"/>
          <p:cNvSpPr/>
          <p:nvPr/>
        </p:nvSpPr>
        <p:spPr>
          <a:xfrm>
            <a:off x="7442362" y="4637365"/>
            <a:ext cx="224610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914691" y="5258395"/>
            <a:ext cx="3011329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6221" y="4637365"/>
            <a:ext cx="256826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926020" y="5258395"/>
            <a:ext cx="2328267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2" name="Text 30"/>
          <p:cNvSpPr/>
          <p:nvPr/>
        </p:nvSpPr>
        <p:spPr>
          <a:xfrm>
            <a:off x="13154620" y="4637365"/>
            <a:ext cx="187106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5254288" y="5258395"/>
            <a:ext cx="1795463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4" name="Text 32"/>
          <p:cNvSpPr/>
          <p:nvPr/>
        </p:nvSpPr>
        <p:spPr>
          <a:xfrm>
            <a:off x="15482888" y="4637365"/>
            <a:ext cx="133826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238250" y="6134695"/>
            <a:ext cx="597789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6" name="Text 34"/>
          <p:cNvSpPr/>
          <p:nvPr/>
        </p:nvSpPr>
        <p:spPr>
          <a:xfrm>
            <a:off x="1504950" y="5513665"/>
            <a:ext cx="562382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216140" y="6134695"/>
            <a:ext cx="2698552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8" name="Text 36"/>
          <p:cNvSpPr/>
          <p:nvPr/>
        </p:nvSpPr>
        <p:spPr>
          <a:xfrm>
            <a:off x="7442362" y="5513665"/>
            <a:ext cx="224610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0,842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914691" y="6134695"/>
            <a:ext cx="3011329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0" name="Text 38"/>
          <p:cNvSpPr/>
          <p:nvPr/>
        </p:nvSpPr>
        <p:spPr>
          <a:xfrm>
            <a:off x="10136221" y="5513665"/>
            <a:ext cx="256826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0,45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12926020" y="6134695"/>
            <a:ext cx="2328267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2" name="Text 40"/>
          <p:cNvSpPr/>
          <p:nvPr/>
        </p:nvSpPr>
        <p:spPr>
          <a:xfrm>
            <a:off x="13154620" y="5513665"/>
            <a:ext cx="187106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5254288" y="6134695"/>
            <a:ext cx="1795463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4" name="Text 42"/>
          <p:cNvSpPr/>
          <p:nvPr/>
        </p:nvSpPr>
        <p:spPr>
          <a:xfrm>
            <a:off x="15482888" y="5513665"/>
            <a:ext cx="133826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504950" y="6389965"/>
            <a:ext cx="562382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442362" y="6389965"/>
            <a:ext cx="224610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0,777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136221" y="6389965"/>
            <a:ext cx="2568269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13154620" y="6389965"/>
            <a:ext cx="187106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5482888" y="6389965"/>
            <a:ext cx="133826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238250" y="7224356"/>
            <a:ext cx="173926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prueba (20% estratificado). Métricas de clasificación con umbral base 0,5.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38250" y="7761565"/>
            <a:ext cx="15811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2" name="Text 50"/>
          <p:cNvSpPr/>
          <p:nvPr/>
        </p:nvSpPr>
        <p:spPr>
          <a:xfrm>
            <a:off x="1238250" y="8016836"/>
            <a:ext cx="40024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238250" y="8367356"/>
            <a:ext cx="3747707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ordenar clientes por riesgo, independiente del umbral.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5295900" y="8016836"/>
            <a:ext cx="40024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Precisión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5295900" y="8367356"/>
            <a:ext cx="3747707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marcados como fuga, cuántos realmente lo eran.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9353550" y="8016836"/>
            <a:ext cx="40024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875" dirty="0"/>
          </a:p>
        </p:txBody>
      </p:sp>
      <p:sp>
        <p:nvSpPr>
          <p:cNvPr id="57" name="Text 55"/>
          <p:cNvSpPr/>
          <p:nvPr/>
        </p:nvSpPr>
        <p:spPr>
          <a:xfrm>
            <a:off x="9353550" y="8367356"/>
            <a:ext cx="3747707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fugas reales, cuántas logra detectar el modelo.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13411200" y="8016836"/>
            <a:ext cx="40024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875" dirty="0"/>
          </a:p>
        </p:txBody>
      </p:sp>
      <p:sp>
        <p:nvSpPr>
          <p:cNvPr id="59" name="Text 57"/>
          <p:cNvSpPr/>
          <p:nvPr/>
        </p:nvSpPr>
        <p:spPr>
          <a:xfrm>
            <a:off x="13411200" y="8367356"/>
            <a:ext cx="3747707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precisión y recall en una sola cifra.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elegido: Gradient Boosting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4632127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4489252"/>
            <a:ext cx="482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conjunto: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0,873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238250" y="5379839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5236964"/>
            <a:ext cx="599967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menos falsas alarmas.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238250" y="6127552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9" name="Text 7"/>
          <p:cNvSpPr/>
          <p:nvPr/>
        </p:nvSpPr>
        <p:spPr>
          <a:xfrm>
            <a:off x="1552575" y="5984677"/>
            <a:ext cx="780744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calibradas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permiten ajustar el umbral.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238250" y="6875264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1" name="Text 9"/>
          <p:cNvSpPr/>
          <p:nvPr/>
        </p:nvSpPr>
        <p:spPr>
          <a:xfrm>
            <a:off x="1552575" y="6732389"/>
            <a:ext cx="802602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al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lineal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relaciones no lineales importan.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946481" y="2793802"/>
            <a:ext cx="78135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por modelo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946481" y="7784902"/>
            <a:ext cx="7103269" cy="1524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4" name="Text 12"/>
          <p:cNvSpPr/>
          <p:nvPr/>
        </p:nvSpPr>
        <p:spPr>
          <a:xfrm>
            <a:off x="10127099" y="3847267"/>
            <a:ext cx="101036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0,873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022681" y="4327327"/>
            <a:ext cx="1143000" cy="34575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6" name="Text 14"/>
          <p:cNvSpPr/>
          <p:nvPr/>
        </p:nvSpPr>
        <p:spPr>
          <a:xfrm>
            <a:off x="11696224" y="4045387"/>
            <a:ext cx="9199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A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0,865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546681" y="4479727"/>
            <a:ext cx="1143000" cy="3305175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18" name="Text 16"/>
          <p:cNvSpPr/>
          <p:nvPr/>
        </p:nvSpPr>
        <p:spPr>
          <a:xfrm>
            <a:off x="13216176" y="4512112"/>
            <a:ext cx="92821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A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0,842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3070681" y="4946452"/>
            <a:ext cx="1143000" cy="283845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20" name="Text 18"/>
          <p:cNvSpPr/>
          <p:nvPr/>
        </p:nvSpPr>
        <p:spPr>
          <a:xfrm>
            <a:off x="14781491" y="5807512"/>
            <a:ext cx="8454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A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0,777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4594681" y="6241852"/>
            <a:ext cx="1143000" cy="154305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22" name="Text 20"/>
          <p:cNvSpPr/>
          <p:nvPr/>
        </p:nvSpPr>
        <p:spPr>
          <a:xfrm>
            <a:off x="9984581" y="7952542"/>
            <a:ext cx="12192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508581" y="7952542"/>
            <a:ext cx="12192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032581" y="7952542"/>
            <a:ext cx="12192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556581" y="7952542"/>
            <a:ext cx="12192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46481" y="8634532"/>
            <a:ext cx="781359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truncado en 0,70 para destacar diferencias.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umbral óptimo: 0,23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" y="3108127"/>
            <a:ext cx="9388078" cy="495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95500" y="8304014"/>
            <a:ext cx="323850" cy="4762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6" name="Text 3"/>
          <p:cNvSpPr/>
          <p:nvPr/>
        </p:nvSpPr>
        <p:spPr>
          <a:xfrm>
            <a:off x="2533650" y="8175427"/>
            <a:ext cx="6828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3559373" y="8304014"/>
            <a:ext cx="323850" cy="47625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8" name="Text 5"/>
          <p:cNvSpPr/>
          <p:nvPr/>
        </p:nvSpPr>
        <p:spPr>
          <a:xfrm>
            <a:off x="3997523" y="8175427"/>
            <a:ext cx="10081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5348526" y="8304014"/>
            <a:ext cx="323850" cy="47625"/>
          </a:xfrm>
          <a:prstGeom prst="rect">
            <a:avLst/>
          </a:prstGeom>
          <a:solidFill>
            <a:srgbClr val="5A5E63"/>
          </a:solidFill>
          <a:ln/>
        </p:spPr>
      </p:sp>
      <p:sp>
        <p:nvSpPr>
          <p:cNvPr id="10" name="Text 7"/>
          <p:cNvSpPr/>
          <p:nvPr/>
        </p:nvSpPr>
        <p:spPr>
          <a:xfrm>
            <a:off x="5786676" y="8175427"/>
            <a:ext cx="3153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293078" y="3314105"/>
            <a:ext cx="9525" cy="4960144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2" name="Shape 9"/>
          <p:cNvSpPr/>
          <p:nvPr/>
        </p:nvSpPr>
        <p:spPr>
          <a:xfrm>
            <a:off x="11834099" y="3447455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3" name="Text 10"/>
          <p:cNvSpPr/>
          <p:nvPr/>
        </p:nvSpPr>
        <p:spPr>
          <a:xfrm>
            <a:off x="12110324" y="3314105"/>
            <a:ext cx="5087610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clases desbalanceadas,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rara vez es óptimo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1834099" y="4515207"/>
            <a:ext cx="104775" cy="104775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5" name="Text 12"/>
          <p:cNvSpPr/>
          <p:nvPr/>
        </p:nvSpPr>
        <p:spPr>
          <a:xfrm>
            <a:off x="12110324" y="4381857"/>
            <a:ext cx="5087610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el umbral que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F1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0,23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1834099" y="5449610"/>
            <a:ext cx="5215652" cy="1356360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7" name="Text 14"/>
          <p:cNvSpPr/>
          <p:nvPr/>
        </p:nvSpPr>
        <p:spPr>
          <a:xfrm>
            <a:off x="12100799" y="5697260"/>
            <a:ext cx="515047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Recall sube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00799" y="6055400"/>
            <a:ext cx="515047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0,49 </a:t>
            </a:r>
            <a:pPr algn="l" indent="0" marL="0">
              <a:buNone/>
            </a:pPr>
            <a:r>
              <a:rPr lang="en-US" sz="3450" b="1" dirty="0">
                <a:solidFill>
                  <a:srgbClr val="5A5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pPr algn="l" indent="0" marL="0">
              <a:buNone/>
            </a:pPr>
            <a:r>
              <a:rPr lang="en-US" sz="34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0,74</a:t>
            </a:r>
            <a:endParaRPr lang="en-US" sz="3450" dirty="0"/>
          </a:p>
        </p:txBody>
      </p:sp>
      <p:sp>
        <p:nvSpPr>
          <p:cNvPr id="19" name="Shape 16"/>
          <p:cNvSpPr/>
          <p:nvPr/>
        </p:nvSpPr>
        <p:spPr>
          <a:xfrm>
            <a:off x="11834099" y="7206020"/>
            <a:ext cx="104775" cy="10477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0" name="Text 17"/>
          <p:cNvSpPr/>
          <p:nvPr/>
        </p:nvSpPr>
        <p:spPr>
          <a:xfrm>
            <a:off x="12110324" y="7072670"/>
            <a:ext cx="5087610" cy="1239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Recall: un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(perder un cliente) cuesta más que una falsa alarma.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explica el abandono?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302811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362450" y="2974777"/>
            <a:ext cx="7429500" cy="4572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6" name="Text 4"/>
          <p:cNvSpPr/>
          <p:nvPr/>
        </p:nvSpPr>
        <p:spPr>
          <a:xfrm>
            <a:off x="12058650" y="3020497"/>
            <a:ext cx="782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73296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productos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362450" y="3679627"/>
            <a:ext cx="5476875" cy="4572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9" name="Text 7"/>
          <p:cNvSpPr/>
          <p:nvPr/>
        </p:nvSpPr>
        <p:spPr>
          <a:xfrm>
            <a:off x="10106025" y="3725347"/>
            <a:ext cx="78295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2500" y="443781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activo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362450" y="4384477"/>
            <a:ext cx="2152650" cy="4572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781800" y="4430197"/>
            <a:ext cx="67829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52500" y="514266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362450" y="5089327"/>
            <a:ext cx="1562100" cy="45720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15" name="Text 13"/>
          <p:cNvSpPr/>
          <p:nvPr/>
        </p:nvSpPr>
        <p:spPr>
          <a:xfrm>
            <a:off x="6191250" y="5142667"/>
            <a:ext cx="4294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584751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362450" y="5794177"/>
            <a:ext cx="1562100" cy="45720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18" name="Text 16"/>
          <p:cNvSpPr/>
          <p:nvPr/>
        </p:nvSpPr>
        <p:spPr>
          <a:xfrm>
            <a:off x="6191250" y="5847517"/>
            <a:ext cx="4294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655236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362450" y="6499027"/>
            <a:ext cx="781050" cy="45720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21" name="Text 19"/>
          <p:cNvSpPr/>
          <p:nvPr/>
        </p:nvSpPr>
        <p:spPr>
          <a:xfrm>
            <a:off x="5410200" y="6552367"/>
            <a:ext cx="4294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52500" y="7257217"/>
            <a:ext cx="31432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variables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362450" y="7203877"/>
            <a:ext cx="590550" cy="457200"/>
          </a:xfrm>
          <a:prstGeom prst="rect">
            <a:avLst/>
          </a:prstGeom>
          <a:solidFill>
            <a:srgbClr val="8AA0D0"/>
          </a:solidFill>
          <a:ln/>
        </p:spPr>
      </p:sp>
      <p:sp>
        <p:nvSpPr>
          <p:cNvPr id="24" name="Text 22"/>
          <p:cNvSpPr/>
          <p:nvPr/>
        </p:nvSpPr>
        <p:spPr>
          <a:xfrm>
            <a:off x="5219700" y="7257217"/>
            <a:ext cx="4294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38250" y="8686800"/>
            <a:ext cx="162858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factores —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productos y actividad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concentran cerca del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importancia. Son variables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definen a quién y cómo retener.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A LA ACCIÓN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por factor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2215872"/>
            <a:ext cx="7743825" cy="347353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585442"/>
            <a:ext cx="7621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45920" y="2947392"/>
            <a:ext cx="762133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Segmento senior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45920" y="3465552"/>
            <a:ext cx="7136340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preferencial a mayores de 40: asesoría humana y productos de protección patrimonial.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305925" y="2215872"/>
            <a:ext cx="7743825" cy="3473530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3595" y="2585442"/>
            <a:ext cx="7621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13595" y="2947392"/>
            <a:ext cx="762133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Frenar la sobreventa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13595" y="3465552"/>
            <a:ext cx="7136340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 el </a:t>
            </a:r>
            <a:pPr algn="l" indent="0" marL="0">
              <a:lnSpc>
                <a:spcPct val="145000"/>
              </a:lnSpc>
              <a:buNone/>
            </a:pPr>
            <a:r>
              <a:rPr lang="en-US" sz="2025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clientes con 2 productos; retención activa para quienes tienen 3 o más.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38250" y="6013252"/>
            <a:ext cx="7743825" cy="3473648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6382821"/>
            <a:ext cx="7621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45920" y="6744771"/>
            <a:ext cx="762133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Reactivar inactivos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645920" y="7262932"/>
            <a:ext cx="7136340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 no transaccionan en 30 días, acompañadas de beneficios por uso.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305925" y="6013252"/>
            <a:ext cx="7743825" cy="3473648"/>
          </a:xfrm>
          <a:prstGeom prst="rect">
            <a:avLst/>
          </a:prstGeom>
          <a:ln w="7620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3595" y="6382821"/>
            <a:ext cx="7621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5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713595" y="6744771"/>
            <a:ext cx="762133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 alemán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713595" y="7262932"/>
            <a:ext cx="7136340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competidores locales y revisión de la oferta de valor.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90 días para reducir el abandono </a:t>
            </a:r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3365302"/>
            <a:ext cx="762000" cy="7620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365302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343150" y="3422452"/>
            <a:ext cx="592581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mensual de toda la base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343150" y="3845362"/>
            <a:ext cx="5925812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a cada cliente aplicando el umbral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0,23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238250" y="4517827"/>
            <a:ext cx="762000" cy="7620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517827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343150" y="4574977"/>
            <a:ext cx="766337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Priorizar por riesgo × valor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343150" y="4997887"/>
            <a:ext cx="766337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el esfuerzo donde el impacto económico es mayor.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38250" y="5670352"/>
            <a:ext cx="762000" cy="7620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670352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343150" y="5727502"/>
            <a:ext cx="623751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Desplegar con prueba A/B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343150" y="6150412"/>
            <a:ext cx="6237518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acción, 20% control, para medir el efecto real.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238250" y="6822877"/>
            <a:ext cx="762000" cy="762000"/>
          </a:xfrm>
          <a:prstGeom prst="rect">
            <a:avLst/>
          </a:prstGeom>
          <a:solidFill>
            <a:srgbClr val="002B7F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6822877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2343150" y="6880027"/>
            <a:ext cx="708108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Monitorear ROI e integrar al CRM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343150" y="7302937"/>
            <a:ext cx="7081088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alerta automático y reentrenamiento semestral.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238250" y="9086850"/>
            <a:ext cx="17392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continuo —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02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→ priorizar → actuar → medir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operando dentro del CRM del banco.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0010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300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1200150"/>
            <a:ext cx="173926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 accionable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00446" y="3509129"/>
            <a:ext cx="5231678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0,87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1166909" y="4880729"/>
            <a:ext cx="489875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del modelo elegido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375321" y="3509129"/>
            <a:ext cx="9525" cy="209169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6528036" y="3509129"/>
            <a:ext cx="5231809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6694503" y="4880729"/>
            <a:ext cx="489887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fugas detectadas con umbral 0,23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903035" y="3509129"/>
            <a:ext cx="9525" cy="209169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0" name="Text 8"/>
          <p:cNvSpPr/>
          <p:nvPr/>
        </p:nvSpPr>
        <p:spPr>
          <a:xfrm>
            <a:off x="12055751" y="3509129"/>
            <a:ext cx="5231809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−10%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12222217" y="4880729"/>
            <a:ext cx="489887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abandono para el trimestre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865120" y="6210419"/>
            <a:ext cx="12557760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 accionable e integrado al CRM para retener a tiempo a los clientes de mayor valor.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8167896" y="7545824"/>
            <a:ext cx="19520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spc="150" kern="0" dirty="0">
                <a:solidFill>
                  <a:srgbClr val="002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7504330" y="9612630"/>
            <a:ext cx="2883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A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2026-07-01T14:34:16Z</dcterms:created>
  <dcterms:modified xsi:type="dcterms:W3CDTF">2026-07-01T14:34:16Z</dcterms:modified>
</cp:coreProperties>
</file>